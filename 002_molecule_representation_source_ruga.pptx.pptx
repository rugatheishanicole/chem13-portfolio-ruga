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5113000" cy="21374100"/>
  <p:notesSz cx="6858000" cy="9144000"/>
  <p:embeddedFontLst>
    <p:embeddedFont>
      <p:font typeface="Shantell Sans Ultra-Bold" charset="1" panose="00000000000000000000"/>
      <p:regular r:id="rId16"/>
    </p:embeddedFont>
    <p:embeddedFont>
      <p:font typeface="Shantell Sans Bold" charset="1" panose="00000000000000000000"/>
      <p:regular r:id="rId17"/>
    </p:embeddedFont>
    <p:embeddedFont>
      <p:font typeface="Shantell Sans Medium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74326" y="11169810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367539" y="2450849"/>
            <a:ext cx="19225196" cy="139707"/>
            <a:chOff x="0" y="0"/>
            <a:chExt cx="4901223" cy="3561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1223" cy="35616"/>
            </a:xfrm>
            <a:custGeom>
              <a:avLst/>
              <a:gdLst/>
              <a:ahLst/>
              <a:cxnLst/>
              <a:rect r="r" b="b" t="t" l="l"/>
              <a:pathLst>
                <a:path h="35616" w="4901223">
                  <a:moveTo>
                    <a:pt x="0" y="0"/>
                  </a:moveTo>
                  <a:lnTo>
                    <a:pt x="4901223" y="0"/>
                  </a:lnTo>
                  <a:lnTo>
                    <a:pt x="4901223" y="35616"/>
                  </a:lnTo>
                  <a:lnTo>
                    <a:pt x="0" y="35616"/>
                  </a:lnTo>
                  <a:close/>
                </a:path>
              </a:pathLst>
            </a:custGeom>
            <a:solidFill>
              <a:srgbClr val="F5A89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901223" cy="45141"/>
            </a:xfrm>
            <a:prstGeom prst="rect">
              <a:avLst/>
            </a:prstGeom>
          </p:spPr>
          <p:txBody>
            <a:bodyPr anchor="ctr" rtlCol="false" tIns="25247" lIns="25247" bIns="25247" rIns="25247"/>
            <a:lstStyle/>
            <a:p>
              <a:pPr algn="ctr">
                <a:lnSpc>
                  <a:spcPts val="11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113135" y="-255419"/>
            <a:ext cx="20012386" cy="2706267"/>
            <a:chOff x="0" y="0"/>
            <a:chExt cx="5101907" cy="6899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01907" cy="689929"/>
            </a:xfrm>
            <a:custGeom>
              <a:avLst/>
              <a:gdLst/>
              <a:ahLst/>
              <a:cxnLst/>
              <a:rect r="r" b="b" t="t" l="l"/>
              <a:pathLst>
                <a:path h="689929" w="5101907">
                  <a:moveTo>
                    <a:pt x="0" y="0"/>
                  </a:moveTo>
                  <a:lnTo>
                    <a:pt x="5101907" y="0"/>
                  </a:lnTo>
                  <a:lnTo>
                    <a:pt x="5101907" y="689929"/>
                  </a:lnTo>
                  <a:lnTo>
                    <a:pt x="0" y="689929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5101907" cy="699454"/>
            </a:xfrm>
            <a:prstGeom prst="rect">
              <a:avLst/>
            </a:prstGeom>
          </p:spPr>
          <p:txBody>
            <a:bodyPr anchor="ctr" rtlCol="false" tIns="25247" lIns="25247" bIns="25247" rIns="25247"/>
            <a:lstStyle/>
            <a:p>
              <a:pPr algn="ctr">
                <a:lnSpc>
                  <a:spcPts val="110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12000" y="670712"/>
            <a:ext cx="12082850" cy="1472542"/>
            <a:chOff x="0" y="0"/>
            <a:chExt cx="32416664" cy="39506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PROPANE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7872" y="11309429"/>
            <a:ext cx="6487906" cy="7005697"/>
            <a:chOff x="0" y="0"/>
            <a:chExt cx="8650541" cy="934092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487351" y="3979815"/>
              <a:ext cx="7675839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CH₃CH₂CH₃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7872" y="3686303"/>
            <a:ext cx="6487906" cy="7005697"/>
            <a:chOff x="0" y="0"/>
            <a:chExt cx="8650541" cy="9340929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10379" y="636121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97730" y="4098965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C₃H₈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275581" y="3686303"/>
            <a:ext cx="6487906" cy="7005697"/>
            <a:chOff x="0" y="0"/>
            <a:chExt cx="909238" cy="98180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3EAF8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1159938" y="816514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03077" y="816514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720084" y="682212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05172" y="680307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89839" y="682212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84468" y="682212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441156" y="680307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39" id="39"/>
          <p:cNvSpPr/>
          <p:nvPr/>
        </p:nvSpPr>
        <p:spPr>
          <a:xfrm>
            <a:off x="10300547" y="7122157"/>
            <a:ext cx="8593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11743686" y="7103107"/>
            <a:ext cx="85939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9889902" y="5965938"/>
            <a:ext cx="0" cy="85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>
            <a:off x="9870852" y="7315279"/>
            <a:ext cx="0" cy="85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H="true">
            <a:off x="11412451" y="5889129"/>
            <a:ext cx="0" cy="85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>
            <a:off x="12976695" y="5965938"/>
            <a:ext cx="0" cy="85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11538584" y="7403145"/>
            <a:ext cx="0" cy="85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>
            <a:off x="13051823" y="7430166"/>
            <a:ext cx="0" cy="8593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3365077" y="7084057"/>
            <a:ext cx="5467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8991827" y="7103107"/>
            <a:ext cx="54672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9" id="49"/>
          <p:cNvGrpSpPr/>
          <p:nvPr/>
        </p:nvGrpSpPr>
        <p:grpSpPr>
          <a:xfrm rot="0">
            <a:off x="-4947072" y="55969"/>
            <a:ext cx="12082850" cy="1472542"/>
            <a:chOff x="0" y="0"/>
            <a:chExt cx="32416664" cy="39506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01</a:t>
              </a:r>
            </a:p>
          </p:txBody>
        </p:sp>
      </p:grpSp>
      <p:sp>
        <p:nvSpPr>
          <p:cNvPr name="Freeform 52" id="52"/>
          <p:cNvSpPr/>
          <p:nvPr/>
        </p:nvSpPr>
        <p:spPr>
          <a:xfrm flipH="false" flipV="false" rot="-10800000">
            <a:off x="8783034" y="13606650"/>
            <a:ext cx="5796441" cy="2086719"/>
          </a:xfrm>
          <a:custGeom>
            <a:avLst/>
            <a:gdLst/>
            <a:ahLst/>
            <a:cxnLst/>
            <a:rect r="r" b="b" t="t" l="l"/>
            <a:pathLst>
              <a:path h="2086719" w="5796441">
                <a:moveTo>
                  <a:pt x="0" y="0"/>
                </a:moveTo>
                <a:lnTo>
                  <a:pt x="5796441" y="0"/>
                </a:lnTo>
                <a:lnTo>
                  <a:pt x="5796441" y="2086719"/>
                </a:lnTo>
                <a:lnTo>
                  <a:pt x="0" y="20867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8457083" y="11596875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8370305" y="4165104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02/ LEWIS STRUCTURE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441156" y="820324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01809" y="5289054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538547" y="5289054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461275" y="5289054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553618" y="19290716"/>
            <a:ext cx="14012764" cy="925344"/>
            <a:chOff x="0" y="0"/>
            <a:chExt cx="18683685" cy="1233793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62" id="62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4578" y="3339737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D5F5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851389" y="3339737"/>
            <a:ext cx="6487906" cy="7005697"/>
            <a:chOff x="0" y="0"/>
            <a:chExt cx="909238" cy="981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3EA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750810" y="11517009"/>
            <a:ext cx="6487906" cy="7005697"/>
            <a:chOff x="0" y="0"/>
            <a:chExt cx="909238" cy="9818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18575" y="454379"/>
            <a:ext cx="12082850" cy="1472542"/>
            <a:chOff x="0" y="0"/>
            <a:chExt cx="32416664" cy="39506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ETHANOL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8843" y="11517009"/>
            <a:ext cx="6487906" cy="7005697"/>
            <a:chOff x="0" y="0"/>
            <a:chExt cx="8650541" cy="934092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487351" y="3979815"/>
              <a:ext cx="7675839" cy="1635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00"/>
                </a:lnSpc>
              </a:pPr>
              <a:r>
                <a:rPr lang="en-US" sz="800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CH₃CH₂OH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64992" y="5023770"/>
            <a:ext cx="6274303" cy="3400425"/>
            <a:chOff x="0" y="0"/>
            <a:chExt cx="8365737" cy="4533900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1514645" y="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514645" y="37338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3" id="33"/>
            <p:cNvSpPr txBox="true"/>
            <p:nvPr/>
          </p:nvSpPr>
          <p:spPr>
            <a:xfrm rot="0">
              <a:off x="3806354" y="36830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595515" y="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730540" y="214979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..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5730540" y="10668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..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7219882" y="18923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18669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3712888" y="18923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705728" y="18923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514645" y="186690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2660500" y="2292350"/>
              <a:ext cx="114585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3" id="43"/>
            <p:cNvSpPr/>
            <p:nvPr/>
          </p:nvSpPr>
          <p:spPr>
            <a:xfrm>
              <a:off x="4584685" y="2266950"/>
              <a:ext cx="114585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H="true">
              <a:off x="2112973" y="750724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H="true">
              <a:off x="2087573" y="2549845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H="true">
              <a:off x="4143038" y="648312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>
              <a:off x="4311216" y="2667000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>
              <a:off x="6746540" y="2241550"/>
              <a:ext cx="72896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915539" y="2266950"/>
              <a:ext cx="72896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-5129825" y="0"/>
            <a:ext cx="12082850" cy="1472542"/>
            <a:chOff x="0" y="0"/>
            <a:chExt cx="32416664" cy="39506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02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8514411" y="14110395"/>
            <a:ext cx="4960704" cy="1818925"/>
          </a:xfrm>
          <a:custGeom>
            <a:avLst/>
            <a:gdLst/>
            <a:ahLst/>
            <a:cxnLst/>
            <a:rect r="r" b="b" t="t" l="l"/>
            <a:pathLst>
              <a:path h="1818925" w="4960704">
                <a:moveTo>
                  <a:pt x="0" y="0"/>
                </a:moveTo>
                <a:lnTo>
                  <a:pt x="4960704" y="0"/>
                </a:lnTo>
                <a:lnTo>
                  <a:pt x="4960704" y="1818925"/>
                </a:lnTo>
                <a:lnTo>
                  <a:pt x="0" y="1818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4" id="54"/>
          <p:cNvSpPr txBox="true"/>
          <p:nvPr/>
        </p:nvSpPr>
        <p:spPr>
          <a:xfrm rot="0">
            <a:off x="911600" y="3756485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sz="3597" b="true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01/MOLECULAR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116324" y="3756485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02/ LEWIS STRUCTURE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851389" y="11920581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80091" y="6119145"/>
            <a:ext cx="575687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7"/>
              </a:lnSpc>
            </a:pPr>
            <a:r>
              <a:rPr lang="en-US" sz="7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C₂H₆O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12156" y="19243089"/>
            <a:ext cx="14012764" cy="925344"/>
            <a:chOff x="0" y="0"/>
            <a:chExt cx="18683685" cy="12337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61" id="61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9141" y="11473941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809696" y="431297"/>
            <a:ext cx="12082850" cy="1472542"/>
            <a:chOff x="0" y="0"/>
            <a:chExt cx="32416664" cy="39506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ACETONE (PROPAN-2-ONE) 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1600" y="11473941"/>
            <a:ext cx="6487906" cy="7005697"/>
            <a:chOff x="0" y="0"/>
            <a:chExt cx="8650541" cy="934092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7351" y="3998865"/>
              <a:ext cx="7675839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280"/>
                </a:lnSpc>
              </a:pPr>
              <a:r>
                <a:rPr lang="en-US" sz="690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CH₃COCH₃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30632" y="3639774"/>
            <a:ext cx="6487906" cy="7005697"/>
            <a:chOff x="0" y="0"/>
            <a:chExt cx="8650541" cy="934092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43671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31022" y="3068193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C₃H₆O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5129825" y="0"/>
            <a:ext cx="12082850" cy="1472542"/>
            <a:chOff x="0" y="0"/>
            <a:chExt cx="32416664" cy="39506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03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51121" y="3686303"/>
            <a:ext cx="6487906" cy="7005697"/>
            <a:chOff x="0" y="0"/>
            <a:chExt cx="8650541" cy="934092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3EAF8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6298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02/ LEWIS STRUCTURE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54100" y="1978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54100" y="57118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3634970" y="1978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:O: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769994" y="5661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5720625" y="1978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7259337" y="3870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9455" y="384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3752343" y="3870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5745183" y="3870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554100" y="384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8" id="48"/>
            <p:cNvSpPr/>
            <p:nvPr/>
          </p:nvSpPr>
          <p:spPr>
            <a:xfrm>
              <a:off x="2699955" y="4270415"/>
              <a:ext cx="114585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4624140" y="4245015"/>
              <a:ext cx="114585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H="true">
              <a:off x="2152427" y="2728789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>
              <a:off x="2127027" y="4527910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H="true">
              <a:off x="4182493" y="2626377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>
              <a:off x="6268152" y="2728789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>
              <a:off x="6368322" y="4681093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6785994" y="4219615"/>
              <a:ext cx="72896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954994" y="4245015"/>
              <a:ext cx="72896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>
              <a:off x="4350670" y="2626377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8827589" y="13166501"/>
            <a:ext cx="4345497" cy="4229617"/>
          </a:xfrm>
          <a:custGeom>
            <a:avLst/>
            <a:gdLst/>
            <a:ahLst/>
            <a:cxnLst/>
            <a:rect r="r" b="b" t="t" l="l"/>
            <a:pathLst>
              <a:path h="4229617" w="4345497">
                <a:moveTo>
                  <a:pt x="0" y="0"/>
                </a:moveTo>
                <a:lnTo>
                  <a:pt x="4345497" y="0"/>
                </a:lnTo>
                <a:lnTo>
                  <a:pt x="4345497" y="4229617"/>
                </a:lnTo>
                <a:lnTo>
                  <a:pt x="0" y="4229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7939141" y="11777850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312156" y="19260688"/>
            <a:ext cx="14012764" cy="925344"/>
            <a:chOff x="0" y="0"/>
            <a:chExt cx="18683685" cy="1233793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63" id="63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9141" y="11693221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36941" y="600100"/>
            <a:ext cx="14446118" cy="1472542"/>
            <a:chOff x="0" y="0"/>
            <a:chExt cx="38756995" cy="39506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8756992" cy="3950629"/>
            </a:xfrm>
            <a:custGeom>
              <a:avLst/>
              <a:gdLst/>
              <a:ahLst/>
              <a:cxnLst/>
              <a:rect r="r" b="b" t="t" l="l"/>
              <a:pathLst>
                <a:path h="3950629" w="38756992">
                  <a:moveTo>
                    <a:pt x="0" y="0"/>
                  </a:moveTo>
                  <a:lnTo>
                    <a:pt x="38756992" y="0"/>
                  </a:lnTo>
                  <a:lnTo>
                    <a:pt x="38756992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43028" b="-394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8756995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ACETIC ACID / ETHANOIC ACID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30632" y="11693221"/>
            <a:ext cx="6487906" cy="7005697"/>
            <a:chOff x="0" y="0"/>
            <a:chExt cx="8650541" cy="934092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87351" y="3989340"/>
              <a:ext cx="7675839" cy="1473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760"/>
                </a:lnSpc>
              </a:pPr>
              <a:r>
                <a:rPr lang="en-US" sz="730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</a:t>
              </a:r>
              <a:r>
                <a:rPr lang="en-US" sz="730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3</a:t>
              </a:r>
              <a:r>
                <a:rPr lang="en-US" sz="730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COOH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30632" y="3639774"/>
            <a:ext cx="6487906" cy="7005697"/>
            <a:chOff x="0" y="0"/>
            <a:chExt cx="8650541" cy="934092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43671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31022" y="3068193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C₂H₄O₂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-5210793" y="-136171"/>
            <a:ext cx="12082850" cy="1472542"/>
            <a:chOff x="0" y="0"/>
            <a:chExt cx="32416664" cy="39506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893059" y="3686303"/>
            <a:ext cx="6487906" cy="7005697"/>
            <a:chOff x="0" y="0"/>
            <a:chExt cx="8650541" cy="9340929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3EAF8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26298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02/ LEWIS STRUCTURE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1554100" y="1978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1554100" y="57118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4647037" y="5661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4647037" y="203059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6939822" y="57118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9455" y="384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752343" y="3870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54100" y="384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>
              <a:off x="2699955" y="4270415"/>
              <a:ext cx="114585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2152427" y="2728789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2127027" y="4527910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>
              <a:off x="4441634" y="2739783"/>
              <a:ext cx="495964" cy="103295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>
              <a:off x="4440161" y="4626958"/>
              <a:ext cx="615498" cy="96651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H="true">
              <a:off x="5793967" y="6086515"/>
              <a:ext cx="1145855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>
              <a:off x="954994" y="4245015"/>
              <a:ext cx="72896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>
              <a:off x="4647037" y="2830691"/>
              <a:ext cx="495964" cy="103295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8695604" y="13744910"/>
            <a:ext cx="4974979" cy="4366926"/>
          </a:xfrm>
          <a:custGeom>
            <a:avLst/>
            <a:gdLst/>
            <a:ahLst/>
            <a:cxnLst/>
            <a:rect r="r" b="b" t="t" l="l"/>
            <a:pathLst>
              <a:path h="4366926" w="4974979">
                <a:moveTo>
                  <a:pt x="0" y="0"/>
                </a:moveTo>
                <a:lnTo>
                  <a:pt x="4974979" y="0"/>
                </a:lnTo>
                <a:lnTo>
                  <a:pt x="4974979" y="4366926"/>
                </a:lnTo>
                <a:lnTo>
                  <a:pt x="0" y="43669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7939141" y="12292200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414283" y="19409328"/>
            <a:ext cx="14012764" cy="925344"/>
            <a:chOff x="0" y="0"/>
            <a:chExt cx="18683685" cy="123379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59" id="59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0632" y="11473941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ADB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140951" y="11473941"/>
            <a:ext cx="6487906" cy="7005697"/>
            <a:chOff x="0" y="0"/>
            <a:chExt cx="909238" cy="981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84360" y="0"/>
            <a:ext cx="11716471" cy="2386942"/>
            <a:chOff x="0" y="0"/>
            <a:chExt cx="31433718" cy="6403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33715" cy="6403840"/>
            </a:xfrm>
            <a:custGeom>
              <a:avLst/>
              <a:gdLst/>
              <a:ahLst/>
              <a:cxnLst/>
              <a:rect r="r" b="b" t="t" l="l"/>
              <a:pathLst>
                <a:path h="6403840" w="31433715">
                  <a:moveTo>
                    <a:pt x="0" y="0"/>
                  </a:moveTo>
                  <a:lnTo>
                    <a:pt x="31433715" y="0"/>
                  </a:lnTo>
                  <a:lnTo>
                    <a:pt x="31433715" y="6403840"/>
                  </a:lnTo>
                  <a:lnTo>
                    <a:pt x="0" y="640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327" r="29756" b="139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1433718" cy="6403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ETHYL ACETATE / ETHYL ETHANOATE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632" y="3639774"/>
            <a:ext cx="6487906" cy="7005697"/>
            <a:chOff x="0" y="0"/>
            <a:chExt cx="8650541" cy="934092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43671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731022" y="3068193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C₄H₈O₂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-5129825" y="-136171"/>
            <a:ext cx="12082850" cy="1472542"/>
            <a:chOff x="0" y="0"/>
            <a:chExt cx="32416664" cy="39506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05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75438" y="3639774"/>
            <a:ext cx="6487906" cy="7005697"/>
            <a:chOff x="0" y="0"/>
            <a:chExt cx="8650541" cy="9340929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3EAF8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26298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02/ LEWIS STRUCTURE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1554100" y="1978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554100" y="57118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64982" y="412786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2840989" y="1673536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5813781" y="437892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720625" y="19780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7259337" y="3870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39455" y="384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699955" y="308289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574770" y="3285608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1554100" y="384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 flipV="true">
              <a:off x="2459438" y="3754588"/>
              <a:ext cx="481034" cy="49818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2152427" y="2728789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H="true">
              <a:off x="2127027" y="4527910"/>
              <a:ext cx="0" cy="114585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954994" y="4245015"/>
              <a:ext cx="728961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>
              <a:off x="3549959" y="3774504"/>
              <a:ext cx="542996" cy="42980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 flipV="true">
              <a:off x="3298282" y="2375676"/>
              <a:ext cx="0" cy="69251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3413916" y="2375676"/>
              <a:ext cx="0" cy="69251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V="true">
              <a:off x="4470533" y="3861861"/>
              <a:ext cx="460683" cy="51706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5490283" y="2948988"/>
              <a:ext cx="460683" cy="51706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 flipV="true">
              <a:off x="4309897" y="3062589"/>
              <a:ext cx="529746" cy="44603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3634970" y="2181877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AutoShape 57" id="57"/>
            <p:cNvSpPr/>
            <p:nvPr/>
          </p:nvSpPr>
          <p:spPr>
            <a:xfrm>
              <a:off x="5480171" y="4055548"/>
              <a:ext cx="579646" cy="37893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V="true">
              <a:off x="6656560" y="4123781"/>
              <a:ext cx="548977" cy="42214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V="true">
              <a:off x="5963368" y="5430159"/>
              <a:ext cx="402676" cy="56341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flipH="true" flipV="true">
              <a:off x="6786253" y="5263845"/>
              <a:ext cx="499746" cy="47941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0">
              <a:off x="5378039" y="599357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7143634" y="594627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8782515" y="13781196"/>
            <a:ext cx="5204778" cy="2855399"/>
          </a:xfrm>
          <a:custGeom>
            <a:avLst/>
            <a:gdLst/>
            <a:ahLst/>
            <a:cxnLst/>
            <a:rect r="r" b="b" t="t" l="l"/>
            <a:pathLst>
              <a:path h="2855399" w="5204778">
                <a:moveTo>
                  <a:pt x="0" y="0"/>
                </a:moveTo>
                <a:lnTo>
                  <a:pt x="5204778" y="0"/>
                </a:lnTo>
                <a:lnTo>
                  <a:pt x="5204778" y="2855399"/>
                </a:lnTo>
                <a:lnTo>
                  <a:pt x="0" y="28553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013385" y="11801046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03/ CONDENSED STRUCTURAL FORMULA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96145" y="14465945"/>
            <a:ext cx="5756879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900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CH₃COOCH₂CH₃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8140951" y="11801046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312156" y="19308313"/>
            <a:ext cx="14012764" cy="925344"/>
            <a:chOff x="0" y="0"/>
            <a:chExt cx="18683685" cy="123379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70" id="70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39141" y="11694231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4816" y="454379"/>
            <a:ext cx="12082850" cy="1472542"/>
            <a:chOff x="0" y="0"/>
            <a:chExt cx="32416664" cy="39506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CYCLOHEXANE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94010" y="11473941"/>
            <a:ext cx="6487906" cy="7322620"/>
            <a:chOff x="0" y="0"/>
            <a:chExt cx="8650541" cy="976349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650541" cy="9763493"/>
              <a:chOff x="0" y="0"/>
              <a:chExt cx="909238" cy="1026218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09238" cy="1026218"/>
              </a:xfrm>
              <a:custGeom>
                <a:avLst/>
                <a:gdLst/>
                <a:ahLst/>
                <a:cxnLst/>
                <a:rect r="r" b="b" t="t" l="l"/>
                <a:pathLst>
                  <a:path h="1026218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91320"/>
                    </a:lnTo>
                    <a:cubicBezTo>
                      <a:pt x="909238" y="1010594"/>
                      <a:pt x="893614" y="1026218"/>
                      <a:pt x="874340" y="1026218"/>
                    </a:cubicBezTo>
                    <a:lnTo>
                      <a:pt x="34898" y="1026218"/>
                    </a:lnTo>
                    <a:cubicBezTo>
                      <a:pt x="15624" y="1026218"/>
                      <a:pt x="0" y="1010594"/>
                      <a:pt x="0" y="991320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909238" cy="1026218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288843" y="4432403"/>
              <a:ext cx="8118018" cy="889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20"/>
                </a:lnSpc>
              </a:pPr>
              <a:r>
                <a:rPr lang="en-US" sz="4350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CH₂CH₂CH₂CH₂CH₂CH₂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8121898" y="12043855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794010" y="3610553"/>
            <a:ext cx="6487906" cy="7005697"/>
            <a:chOff x="0" y="0"/>
            <a:chExt cx="8650541" cy="934092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43671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731022" y="3068193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C₆H₁₂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-5129825" y="0"/>
            <a:ext cx="12082850" cy="1472542"/>
            <a:chOff x="0" y="0"/>
            <a:chExt cx="32416664" cy="39506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06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V="true">
            <a:off x="11953909" y="8842835"/>
            <a:ext cx="0" cy="5467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7939141" y="3610553"/>
            <a:ext cx="6487906" cy="7005697"/>
            <a:chOff x="0" y="0"/>
            <a:chExt cx="8650541" cy="934092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3EAF8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5400" y="702467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02/ LEWIS STRUCTURE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538963" y="64149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3343659" y="752364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330792" y="748554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651445" y="328384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616224" y="4216579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684818" y="427041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>
              <a:off x="4592380" y="3884345"/>
              <a:ext cx="596770" cy="36439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V="true">
              <a:off x="3441322" y="3945158"/>
              <a:ext cx="564008" cy="41329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3355714" y="5016679"/>
              <a:ext cx="0" cy="72896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2684818" y="574564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4797300" y="5759629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flipH="true" flipV="true">
              <a:off x="3460016" y="6414965"/>
              <a:ext cx="636466" cy="28953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2" id="52"/>
            <p:cNvSpPr txBox="true"/>
            <p:nvPr/>
          </p:nvSpPr>
          <p:spPr>
            <a:xfrm rot="0">
              <a:off x="3777743" y="630444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53" id="53"/>
            <p:cNvSpPr/>
            <p:nvPr/>
          </p:nvSpPr>
          <p:spPr>
            <a:xfrm flipH="true">
              <a:off x="4632463" y="6322213"/>
              <a:ext cx="537641" cy="44705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>
              <a:off x="3617316" y="2837987"/>
              <a:ext cx="462024" cy="52483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>
              <a:off x="4453846" y="2710767"/>
              <a:ext cx="277069" cy="64198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3044389" y="2218227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4157988" y="210469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AutoShape 58" id="58"/>
            <p:cNvSpPr/>
            <p:nvPr/>
          </p:nvSpPr>
          <p:spPr>
            <a:xfrm flipH="true" flipV="true">
              <a:off x="5502728" y="4695494"/>
              <a:ext cx="689013" cy="119067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H="true">
              <a:off x="5498402" y="4016684"/>
              <a:ext cx="527351" cy="45914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5943154" y="449947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5762078" y="361663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AutoShape 62" id="62"/>
            <p:cNvSpPr/>
            <p:nvPr/>
          </p:nvSpPr>
          <p:spPr>
            <a:xfrm flipH="true">
              <a:off x="5634336" y="6009599"/>
              <a:ext cx="697538" cy="4854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 flipH="true" flipV="true">
              <a:off x="5632573" y="6216114"/>
              <a:ext cx="621162" cy="32105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4" id="64"/>
            <p:cNvSpPr txBox="true"/>
            <p:nvPr/>
          </p:nvSpPr>
          <p:spPr>
            <a:xfrm rot="0">
              <a:off x="6032054" y="5609549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5943154" y="630444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AutoShape 66" id="66"/>
            <p:cNvSpPr/>
            <p:nvPr/>
          </p:nvSpPr>
          <p:spPr>
            <a:xfrm flipV="true">
              <a:off x="3916586" y="7006139"/>
              <a:ext cx="325507" cy="61883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 flipH="true" flipV="true">
              <a:off x="4468438" y="7021951"/>
              <a:ext cx="435282" cy="54721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>
              <a:off x="2250380" y="6120121"/>
              <a:ext cx="697353" cy="5113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 flipH="true">
              <a:off x="2406431" y="6437730"/>
              <a:ext cx="626693" cy="310116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1399263" y="565809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AutoShape 71" id="71"/>
            <p:cNvSpPr/>
            <p:nvPr/>
          </p:nvSpPr>
          <p:spPr>
            <a:xfrm flipV="true">
              <a:off x="2348538" y="4740435"/>
              <a:ext cx="683328" cy="14825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2" id="72"/>
            <p:cNvSpPr/>
            <p:nvPr/>
          </p:nvSpPr>
          <p:spPr>
            <a:xfrm>
              <a:off x="2418243" y="4151805"/>
              <a:ext cx="619008" cy="32518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3" id="73"/>
            <p:cNvSpPr txBox="true"/>
            <p:nvPr/>
          </p:nvSpPr>
          <p:spPr>
            <a:xfrm rot="0">
              <a:off x="1538963" y="449947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1562160" y="368389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9068065" y="13157973"/>
            <a:ext cx="4230057" cy="4842302"/>
          </a:xfrm>
          <a:custGeom>
            <a:avLst/>
            <a:gdLst/>
            <a:ahLst/>
            <a:cxnLst/>
            <a:rect r="r" b="b" t="t" l="l"/>
            <a:pathLst>
              <a:path h="4842302" w="4230057">
                <a:moveTo>
                  <a:pt x="0" y="0"/>
                </a:moveTo>
                <a:lnTo>
                  <a:pt x="4230057" y="0"/>
                </a:lnTo>
                <a:lnTo>
                  <a:pt x="4230057" y="4842302"/>
                </a:lnTo>
                <a:lnTo>
                  <a:pt x="0" y="48423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414283" y="19206607"/>
            <a:ext cx="14012764" cy="925344"/>
            <a:chOff x="0" y="0"/>
            <a:chExt cx="18683685" cy="123379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79" id="79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81210" y="11328508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E1E8EC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4816" y="454379"/>
            <a:ext cx="12082850" cy="1472542"/>
            <a:chOff x="0" y="0"/>
            <a:chExt cx="32416664" cy="39506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CYCLOHEXANONE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1600" y="11328508"/>
            <a:ext cx="6487906" cy="7358122"/>
            <a:chOff x="0" y="0"/>
            <a:chExt cx="8650541" cy="981082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650541" cy="9810829"/>
              <a:chOff x="0" y="0"/>
              <a:chExt cx="909238" cy="103119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09238" cy="1031193"/>
              </a:xfrm>
              <a:custGeom>
                <a:avLst/>
                <a:gdLst/>
                <a:ahLst/>
                <a:cxnLst/>
                <a:rect r="r" b="b" t="t" l="l"/>
                <a:pathLst>
                  <a:path h="103119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96295"/>
                    </a:lnTo>
                    <a:cubicBezTo>
                      <a:pt x="909238" y="1015569"/>
                      <a:pt x="893614" y="1031193"/>
                      <a:pt x="874340" y="1031193"/>
                    </a:cubicBezTo>
                    <a:lnTo>
                      <a:pt x="34898" y="1031193"/>
                    </a:lnTo>
                    <a:cubicBezTo>
                      <a:pt x="15624" y="1031193"/>
                      <a:pt x="0" y="1015569"/>
                      <a:pt x="0" y="99629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909238" cy="103119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3989340"/>
              <a:ext cx="8163190" cy="1358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039"/>
                </a:lnSpc>
              </a:pPr>
              <a:r>
                <a:rPr lang="en-US" sz="669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CH₂(CH₂)₄CO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91410" y="3456036"/>
            <a:ext cx="6487906" cy="7005697"/>
            <a:chOff x="0" y="0"/>
            <a:chExt cx="8650541" cy="9340929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243671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731022" y="3068193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C₆H₁₀O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1401309" y="824276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-5129825" y="0"/>
            <a:ext cx="12082850" cy="1472542"/>
            <a:chOff x="0" y="0"/>
            <a:chExt cx="32416664" cy="39506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07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537116" y="940004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22433" y="6743996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57632" y="6658847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7958191" y="3541185"/>
            <a:ext cx="6487906" cy="7005697"/>
            <a:chOff x="0" y="0"/>
            <a:chExt cx="909238" cy="98180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3EAF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05038" y="8052371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58560" y="8883881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1098910" y="8855306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589399" y="5704029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864429" y="644395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45" id="45"/>
          <p:cNvSpPr/>
          <p:nvPr/>
        </p:nvSpPr>
        <p:spPr>
          <a:xfrm>
            <a:off x="11295101" y="6154406"/>
            <a:ext cx="447578" cy="27329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10431807" y="6200016"/>
            <a:ext cx="423006" cy="30997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V="true">
            <a:off x="10367601" y="7003657"/>
            <a:ext cx="0" cy="5467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V="true">
            <a:off x="11865583" y="7003657"/>
            <a:ext cx="0" cy="5467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9864429" y="755037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50" id="50"/>
          <p:cNvSpPr/>
          <p:nvPr/>
        </p:nvSpPr>
        <p:spPr>
          <a:xfrm flipH="true" flipV="true">
            <a:off x="10445828" y="8052371"/>
            <a:ext cx="477349" cy="21714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10684123" y="7969481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52" id="52"/>
          <p:cNvSpPr/>
          <p:nvPr/>
        </p:nvSpPr>
        <p:spPr>
          <a:xfrm flipH="true">
            <a:off x="11325163" y="7982807"/>
            <a:ext cx="403230" cy="3352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10563803" y="5369638"/>
            <a:ext cx="346518" cy="39362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>
            <a:off x="11191200" y="5274223"/>
            <a:ext cx="207801" cy="48149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5" id="55"/>
          <p:cNvSpPr/>
          <p:nvPr/>
        </p:nvSpPr>
        <p:spPr>
          <a:xfrm flipH="true">
            <a:off x="11974617" y="6253661"/>
            <a:ext cx="395514" cy="3443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6" id="56"/>
          <p:cNvSpPr txBox="true"/>
          <p:nvPr/>
        </p:nvSpPr>
        <p:spPr>
          <a:xfrm rot="0">
            <a:off x="12308181" y="5803507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O</a:t>
            </a:r>
          </a:p>
        </p:txBody>
      </p:sp>
      <p:sp>
        <p:nvSpPr>
          <p:cNvPr name="AutoShape 57" id="57"/>
          <p:cNvSpPr/>
          <p:nvPr/>
        </p:nvSpPr>
        <p:spPr>
          <a:xfrm flipH="true">
            <a:off x="12076568" y="7748347"/>
            <a:ext cx="523154" cy="364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H="true" flipV="true">
            <a:off x="12075245" y="7903233"/>
            <a:ext cx="465872" cy="2407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 flipV="true">
            <a:off x="10788255" y="8495752"/>
            <a:ext cx="244130" cy="46412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flipH="true" flipV="true">
            <a:off x="11202144" y="8507611"/>
            <a:ext cx="326461" cy="41041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>
            <a:off x="9538601" y="7831238"/>
            <a:ext cx="523015" cy="383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H="true">
            <a:off x="9655639" y="8069445"/>
            <a:ext cx="470020" cy="23258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flipV="true">
            <a:off x="9612219" y="6796474"/>
            <a:ext cx="512496" cy="11118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>
            <a:off x="9664498" y="6355001"/>
            <a:ext cx="464256" cy="24388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 flipH="true">
            <a:off x="12050866" y="6299543"/>
            <a:ext cx="395514" cy="3443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6" id="66"/>
          <p:cNvSpPr/>
          <p:nvPr/>
        </p:nvSpPr>
        <p:spPr>
          <a:xfrm flipH="false" flipV="false" rot="0">
            <a:off x="9174376" y="13032907"/>
            <a:ext cx="4708459" cy="3774885"/>
          </a:xfrm>
          <a:custGeom>
            <a:avLst/>
            <a:gdLst/>
            <a:ahLst/>
            <a:cxnLst/>
            <a:rect r="r" b="b" t="t" l="l"/>
            <a:pathLst>
              <a:path h="3774885" w="4708459">
                <a:moveTo>
                  <a:pt x="0" y="0"/>
                </a:moveTo>
                <a:lnTo>
                  <a:pt x="4708459" y="0"/>
                </a:lnTo>
                <a:lnTo>
                  <a:pt x="4708459" y="3774885"/>
                </a:lnTo>
                <a:lnTo>
                  <a:pt x="0" y="37748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8081210" y="11651782"/>
            <a:ext cx="6122392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04/ BOND-LINE STRUCTURE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869866" y="3765616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02/ LEWIS STRUCTURE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374856" y="7448309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2308181" y="7969481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8900263" y="7484716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005038" y="6615754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022435" y="6004066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443774" y="6358809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401309" y="7484716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791410" y="19286705"/>
            <a:ext cx="14012764" cy="925344"/>
            <a:chOff x="0" y="0"/>
            <a:chExt cx="18683685" cy="123379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79" id="79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32637" y="3199213"/>
            <a:ext cx="6487906" cy="7005697"/>
            <a:chOff x="0" y="0"/>
            <a:chExt cx="909238" cy="9818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D5F5E3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022377" y="3259234"/>
            <a:ext cx="6487906" cy="7005697"/>
            <a:chOff x="0" y="0"/>
            <a:chExt cx="909238" cy="98180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F3EA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15" id="15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76164" y="0"/>
            <a:ext cx="14132864" cy="2386942"/>
            <a:chOff x="0" y="0"/>
            <a:chExt cx="37916575" cy="640384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916572" cy="6403840"/>
            </a:xfrm>
            <a:custGeom>
              <a:avLst/>
              <a:gdLst/>
              <a:ahLst/>
              <a:cxnLst/>
              <a:rect r="r" b="b" t="t" l="l"/>
              <a:pathLst>
                <a:path h="6403840" w="37916572">
                  <a:moveTo>
                    <a:pt x="0" y="0"/>
                  </a:moveTo>
                  <a:lnTo>
                    <a:pt x="37916572" y="0"/>
                  </a:lnTo>
                  <a:lnTo>
                    <a:pt x="37916572" y="6403840"/>
                  </a:lnTo>
                  <a:lnTo>
                    <a:pt x="0" y="64038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327" r="41766" b="1395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7916575" cy="64038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ACETAMINOPHEN (PARACETAMOL)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0629" y="11109785"/>
            <a:ext cx="6487906" cy="7205722"/>
            <a:chOff x="0" y="0"/>
            <a:chExt cx="8650541" cy="960762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8650541" cy="9607629"/>
              <a:chOff x="0" y="0"/>
              <a:chExt cx="909238" cy="1009835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9238" cy="1009835"/>
              </a:xfrm>
              <a:custGeom>
                <a:avLst/>
                <a:gdLst/>
                <a:ahLst/>
                <a:cxnLst/>
                <a:rect r="r" b="b" t="t" l="l"/>
                <a:pathLst>
                  <a:path h="1009835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74937"/>
                    </a:lnTo>
                    <a:cubicBezTo>
                      <a:pt x="909238" y="994211"/>
                      <a:pt x="893614" y="1009835"/>
                      <a:pt x="874340" y="1009835"/>
                    </a:cubicBezTo>
                    <a:lnTo>
                      <a:pt x="34898" y="1009835"/>
                    </a:lnTo>
                    <a:cubicBezTo>
                      <a:pt x="15624" y="1009835"/>
                      <a:pt x="0" y="994211"/>
                      <a:pt x="0" y="974937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909238" cy="1009835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7351" y="3989340"/>
              <a:ext cx="7675839" cy="1066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59"/>
                </a:lnSpc>
              </a:pPr>
              <a:r>
                <a:rPr lang="en-US" sz="529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HOC₆H₄NHCOCH₃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140556" y="11122181"/>
            <a:ext cx="6506956" cy="7005697"/>
            <a:chOff x="0" y="0"/>
            <a:chExt cx="8675941" cy="9340929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25400" y="0"/>
              <a:ext cx="8650541" cy="9340929"/>
              <a:chOff x="0" y="0"/>
              <a:chExt cx="909238" cy="981803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582369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04/ BOND-LINE STRUCTURE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0534643" y="7289849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067143" y="592818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70170" y="517452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..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88433" y="562814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O: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172926" y="819513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140951" y="684258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029043" y="6861635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70170" y="663697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40" id="40"/>
          <p:cNvSpPr/>
          <p:nvPr/>
        </p:nvSpPr>
        <p:spPr>
          <a:xfrm>
            <a:off x="8804378" y="7161673"/>
            <a:ext cx="44933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1" id="41"/>
          <p:cNvGrpSpPr/>
          <p:nvPr/>
        </p:nvGrpSpPr>
        <p:grpSpPr>
          <a:xfrm rot="0">
            <a:off x="-5208788" y="39458"/>
            <a:ext cx="12082850" cy="1472542"/>
            <a:chOff x="0" y="0"/>
            <a:chExt cx="32416664" cy="39506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08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>
            <a:off x="9477788" y="6412305"/>
            <a:ext cx="0" cy="449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>
            <a:off x="9496838" y="7440594"/>
            <a:ext cx="0" cy="449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H="true">
            <a:off x="9705830" y="7058956"/>
            <a:ext cx="441408" cy="840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>
            <a:off x="10337737" y="6202806"/>
            <a:ext cx="0" cy="449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H="true">
            <a:off x="10166287" y="6187640"/>
            <a:ext cx="0" cy="449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 flipV="true">
            <a:off x="10534643" y="7097189"/>
            <a:ext cx="389834" cy="2234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0" id="50"/>
          <p:cNvSpPr txBox="true"/>
          <p:nvPr/>
        </p:nvSpPr>
        <p:spPr>
          <a:xfrm rot="-2197817">
            <a:off x="10696775" y="7434166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..</a:t>
            </a:r>
          </a:p>
        </p:txBody>
      </p:sp>
      <p:sp>
        <p:nvSpPr>
          <p:cNvPr name="AutoShape 51" id="51"/>
          <p:cNvSpPr/>
          <p:nvPr/>
        </p:nvSpPr>
        <p:spPr>
          <a:xfrm flipV="true">
            <a:off x="10616428" y="7899517"/>
            <a:ext cx="226264" cy="3882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11242263" y="7419709"/>
            <a:ext cx="441408" cy="8400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H="true">
            <a:off x="11892995" y="6749242"/>
            <a:ext cx="299158" cy="3352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11449086" y="702356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55" id="55"/>
          <p:cNvSpPr/>
          <p:nvPr/>
        </p:nvSpPr>
        <p:spPr>
          <a:xfrm flipH="true">
            <a:off x="11995105" y="6813726"/>
            <a:ext cx="299158" cy="33526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6" id="56"/>
          <p:cNvSpPr txBox="true"/>
          <p:nvPr/>
        </p:nvSpPr>
        <p:spPr>
          <a:xfrm rot="0">
            <a:off x="11920185" y="627390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57" id="57"/>
          <p:cNvSpPr/>
          <p:nvPr/>
        </p:nvSpPr>
        <p:spPr>
          <a:xfrm flipH="true" flipV="true">
            <a:off x="11844928" y="6037638"/>
            <a:ext cx="334507" cy="30000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flipH="true">
            <a:off x="12555077" y="6519629"/>
            <a:ext cx="448998" cy="1726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9" id="59"/>
          <p:cNvSpPr txBox="true"/>
          <p:nvPr/>
        </p:nvSpPr>
        <p:spPr>
          <a:xfrm rot="0">
            <a:off x="12765677" y="6219592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60" id="60"/>
          <p:cNvSpPr/>
          <p:nvPr/>
        </p:nvSpPr>
        <p:spPr>
          <a:xfrm flipV="true">
            <a:off x="13242732" y="5806822"/>
            <a:ext cx="164461" cy="4181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flipH="true" flipV="true">
            <a:off x="12009544" y="7563917"/>
            <a:ext cx="293100" cy="3405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2" id="62"/>
          <p:cNvSpPr txBox="true"/>
          <p:nvPr/>
        </p:nvSpPr>
        <p:spPr>
          <a:xfrm rot="0">
            <a:off x="12061535" y="780461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63" id="63"/>
          <p:cNvSpPr/>
          <p:nvPr/>
        </p:nvSpPr>
        <p:spPr>
          <a:xfrm flipH="true">
            <a:off x="12699760" y="8023389"/>
            <a:ext cx="442332" cy="789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>
            <a:off x="12749691" y="8097390"/>
            <a:ext cx="442332" cy="7899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5" id="65"/>
          <p:cNvSpPr txBox="true"/>
          <p:nvPr/>
        </p:nvSpPr>
        <p:spPr>
          <a:xfrm rot="0">
            <a:off x="12977498" y="7747460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3142092" y="693700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</a:t>
            </a:r>
          </a:p>
        </p:txBody>
      </p:sp>
      <p:sp>
        <p:nvSpPr>
          <p:cNvPr name="AutoShape 67" id="67"/>
          <p:cNvSpPr/>
          <p:nvPr/>
        </p:nvSpPr>
        <p:spPr>
          <a:xfrm flipH="true">
            <a:off x="13404790" y="7589887"/>
            <a:ext cx="112398" cy="23919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8" id="68"/>
          <p:cNvSpPr/>
          <p:nvPr/>
        </p:nvSpPr>
        <p:spPr>
          <a:xfrm flipH="true" flipV="true">
            <a:off x="13259465" y="6714699"/>
            <a:ext cx="298067" cy="33623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9" id="69"/>
          <p:cNvSpPr/>
          <p:nvPr/>
        </p:nvSpPr>
        <p:spPr>
          <a:xfrm flipH="true">
            <a:off x="13732319" y="7220837"/>
            <a:ext cx="262295" cy="324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0" id="70"/>
          <p:cNvSpPr/>
          <p:nvPr/>
        </p:nvSpPr>
        <p:spPr>
          <a:xfrm flipV="true">
            <a:off x="14237836" y="6477397"/>
            <a:ext cx="0" cy="44933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1" id="71"/>
          <p:cNvSpPr/>
          <p:nvPr/>
        </p:nvSpPr>
        <p:spPr>
          <a:xfrm flipH="false" flipV="false" rot="0">
            <a:off x="8640225" y="13657142"/>
            <a:ext cx="5580766" cy="2724881"/>
          </a:xfrm>
          <a:custGeom>
            <a:avLst/>
            <a:gdLst/>
            <a:ahLst/>
            <a:cxnLst/>
            <a:rect r="r" b="b" t="t" l="l"/>
            <a:pathLst>
              <a:path h="2724881" w="5580766">
                <a:moveTo>
                  <a:pt x="0" y="0"/>
                </a:moveTo>
                <a:lnTo>
                  <a:pt x="5580766" y="0"/>
                </a:lnTo>
                <a:lnTo>
                  <a:pt x="5580766" y="2724882"/>
                </a:lnTo>
                <a:lnTo>
                  <a:pt x="0" y="2724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1013385" y="3488232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sz="3597" b="true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01/MOLECULAR FORMULA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-455637" y="8004635"/>
            <a:ext cx="575687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Carbon: 3   </a:t>
            </a:r>
          </a:p>
          <a:p>
            <a:pPr algn="ctr">
              <a:lnSpc>
                <a:spcPts val="3357"/>
              </a:lnSpc>
            </a:pPr>
            <a:r>
              <a:rPr lang="en-US" sz="27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Hydrogen:8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8387890" y="3759694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16"/>
              </a:lnSpc>
              <a:spcBef>
                <a:spcPct val="0"/>
              </a:spcBef>
            </a:pPr>
            <a:r>
              <a:rPr lang="en-US" b="true" sz="3597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02/ LEWIS STRUCTURE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98150" y="5552407"/>
            <a:ext cx="575687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7"/>
              </a:lnSpc>
            </a:pPr>
            <a:r>
              <a:rPr lang="en-US" sz="7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C₈H₉NO₂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9067143" y="7916324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1202144" y="562814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004075" y="5206747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849637" y="6937008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O:</a:t>
            </a:r>
          </a:p>
        </p:txBody>
      </p:sp>
      <p:sp>
        <p:nvSpPr>
          <p:cNvPr name="TextBox 80" id="80"/>
          <p:cNvSpPr txBox="true"/>
          <p:nvPr/>
        </p:nvSpPr>
        <p:spPr>
          <a:xfrm rot="1381233">
            <a:off x="13708182" y="7119671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..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3791296" y="5842072"/>
            <a:ext cx="859391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7"/>
              </a:lnSpc>
            </a:pPr>
            <a:r>
              <a:rPr lang="en-US" sz="3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H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314160" y="19172757"/>
            <a:ext cx="14012764" cy="925344"/>
            <a:chOff x="0" y="0"/>
            <a:chExt cx="18683685" cy="123379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88" id="88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1171" y="454379"/>
            <a:ext cx="12082850" cy="1472542"/>
            <a:chOff x="0" y="0"/>
            <a:chExt cx="32416664" cy="3950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ASPIRIN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30632" y="11273924"/>
            <a:ext cx="6487906" cy="6215122"/>
            <a:chOff x="0" y="0"/>
            <a:chExt cx="8650541" cy="828682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8650541" cy="8286829"/>
              <a:chOff x="0" y="0"/>
              <a:chExt cx="909238" cy="87100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909238" cy="871009"/>
              </a:xfrm>
              <a:custGeom>
                <a:avLst/>
                <a:gdLst/>
                <a:ahLst/>
                <a:cxnLst/>
                <a:rect r="r" b="b" t="t" l="l"/>
                <a:pathLst>
                  <a:path h="871009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836111"/>
                    </a:lnTo>
                    <a:cubicBezTo>
                      <a:pt x="909238" y="855385"/>
                      <a:pt x="893614" y="871009"/>
                      <a:pt x="874340" y="871009"/>
                    </a:cubicBezTo>
                    <a:lnTo>
                      <a:pt x="34898" y="871009"/>
                    </a:lnTo>
                    <a:cubicBezTo>
                      <a:pt x="15624" y="871009"/>
                      <a:pt x="0" y="855385"/>
                      <a:pt x="0" y="836111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ADBD8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0"/>
                <a:ext cx="909238" cy="871009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43671" y="439316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03/ CONDENSED STRUCTURAL FORMULA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7351" y="3903241"/>
              <a:ext cx="7675839" cy="100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999"/>
                </a:lnSpc>
              </a:pPr>
              <a:r>
                <a:rPr lang="en-US" sz="499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CH₃COOC₆H₄COOH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752248" y="11273924"/>
            <a:ext cx="6506956" cy="7005697"/>
            <a:chOff x="0" y="0"/>
            <a:chExt cx="8675941" cy="9340929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25400" y="0"/>
              <a:ext cx="8650541" cy="9340929"/>
              <a:chOff x="0" y="0"/>
              <a:chExt cx="909238" cy="981803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0" y="582369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04/ BOND-LINE STRUCTURE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47872" y="3430027"/>
            <a:ext cx="6487906" cy="7005697"/>
            <a:chOff x="0" y="0"/>
            <a:chExt cx="8650541" cy="9340929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D5F5E3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243671" y="330852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316"/>
                </a:lnSpc>
              </a:pPr>
              <a:r>
                <a:rPr lang="en-US" sz="3597" b="true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01/MOLECULAR FORMULA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731022" y="3068193"/>
              <a:ext cx="7675839" cy="161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597"/>
                </a:lnSpc>
              </a:pPr>
              <a:r>
                <a:rPr lang="en-US" sz="7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C₉H₈O₄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5210793" y="39458"/>
            <a:ext cx="12082850" cy="1472542"/>
            <a:chOff x="0" y="0"/>
            <a:chExt cx="32416664" cy="39506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09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642596" y="3430027"/>
            <a:ext cx="6487906" cy="7005697"/>
            <a:chOff x="0" y="0"/>
            <a:chExt cx="8650541" cy="9340929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3EAF8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329247" y="252029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02/ LEWIS STRUCTURE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52214" y="443289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5278947" y="4837897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2209253" y="5981687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800363" y="253091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0H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955292" y="483294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2128204" y="478214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2033980" y="238525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1145855" y="2893309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8" id="48"/>
            <p:cNvSpPr/>
            <p:nvPr/>
          </p:nvSpPr>
          <p:spPr>
            <a:xfrm>
              <a:off x="1680340" y="3636765"/>
              <a:ext cx="13050" cy="50336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0" y="2381813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</a:t>
              </a:r>
            </a:p>
          </p:txBody>
        </p:sp>
        <p:sp>
          <p:nvSpPr>
            <p:cNvPr name="AutoShape 50" id="50"/>
            <p:cNvSpPr/>
            <p:nvPr/>
          </p:nvSpPr>
          <p:spPr>
            <a:xfrm>
              <a:off x="928660" y="2915220"/>
              <a:ext cx="434389" cy="25466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1" id="51"/>
            <p:cNvSpPr/>
            <p:nvPr/>
          </p:nvSpPr>
          <p:spPr>
            <a:xfrm>
              <a:off x="1782413" y="3635958"/>
              <a:ext cx="27044" cy="50281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2" id="52"/>
            <p:cNvSpPr txBox="true"/>
            <p:nvPr/>
          </p:nvSpPr>
          <p:spPr>
            <a:xfrm rot="0">
              <a:off x="1184122" y="416619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53" id="53"/>
            <p:cNvSpPr/>
            <p:nvPr/>
          </p:nvSpPr>
          <p:spPr>
            <a:xfrm>
              <a:off x="2074514" y="4832920"/>
              <a:ext cx="434389" cy="25466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935392" y="4627364"/>
              <a:ext cx="497459" cy="7800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V="true">
              <a:off x="1907492" y="2785301"/>
              <a:ext cx="454849" cy="21601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2968968" y="2757112"/>
              <a:ext cx="458045" cy="20915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>
              <a:off x="2913454" y="2861689"/>
              <a:ext cx="458045" cy="20915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8" id="58"/>
            <p:cNvSpPr txBox="true"/>
            <p:nvPr/>
          </p:nvSpPr>
          <p:spPr>
            <a:xfrm rot="0">
              <a:off x="2968968" y="2835858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59" id="59"/>
            <p:cNvSpPr/>
            <p:nvPr/>
          </p:nvSpPr>
          <p:spPr>
            <a:xfrm flipV="true">
              <a:off x="3567295" y="3635231"/>
              <a:ext cx="0" cy="50353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2968968" y="414079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61" id="61"/>
            <p:cNvSpPr/>
            <p:nvPr/>
          </p:nvSpPr>
          <p:spPr>
            <a:xfrm flipV="true">
              <a:off x="2873017" y="4670465"/>
              <a:ext cx="384649" cy="32495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V="true">
              <a:off x="2970458" y="4778415"/>
              <a:ext cx="384649" cy="32495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3" id="63"/>
            <p:cNvSpPr/>
            <p:nvPr/>
          </p:nvSpPr>
          <p:spPr>
            <a:xfrm>
              <a:off x="2726524" y="5478292"/>
              <a:ext cx="11992" cy="50339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3904114" y="4775990"/>
              <a:ext cx="444701" cy="23620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 flipV="true">
              <a:off x="5027227" y="5228037"/>
              <a:ext cx="503440" cy="991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 flipV="true">
              <a:off x="3896408" y="3025611"/>
              <a:ext cx="481623" cy="14693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7" id="67"/>
            <p:cNvSpPr txBox="true"/>
            <p:nvPr/>
          </p:nvSpPr>
          <p:spPr>
            <a:xfrm rot="0">
              <a:off x="4047164" y="256621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68" id="68"/>
            <p:cNvSpPr/>
            <p:nvPr/>
          </p:nvSpPr>
          <p:spPr>
            <a:xfrm flipH="true" flipV="true">
              <a:off x="4553615" y="2103533"/>
              <a:ext cx="9505" cy="50344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 flipH="true" flipV="true">
              <a:off x="4679913" y="2104013"/>
              <a:ext cx="9505" cy="50344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3990192" y="1303433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AutoShape 71" id="71"/>
            <p:cNvSpPr/>
            <p:nvPr/>
          </p:nvSpPr>
          <p:spPr>
            <a:xfrm flipV="true">
              <a:off x="5004323" y="2930960"/>
              <a:ext cx="503440" cy="991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2" id="72"/>
            <p:cNvSpPr/>
            <p:nvPr/>
          </p:nvSpPr>
          <p:spPr>
            <a:xfrm flipV="true">
              <a:off x="6217467" y="5232992"/>
              <a:ext cx="503440" cy="991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3" id="73"/>
            <p:cNvSpPr txBox="true"/>
            <p:nvPr/>
          </p:nvSpPr>
          <p:spPr>
            <a:xfrm rot="0">
              <a:off x="6720907" y="4880410"/>
              <a:ext cx="144998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</a:t>
              </a:r>
            </a:p>
          </p:txBody>
        </p:sp>
        <p:sp>
          <p:nvSpPr>
            <p:cNvPr name="AutoShape 74" id="74"/>
            <p:cNvSpPr/>
            <p:nvPr/>
          </p:nvSpPr>
          <p:spPr>
            <a:xfrm>
              <a:off x="5723429" y="5584146"/>
              <a:ext cx="18880" cy="50318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5" id="75"/>
            <p:cNvSpPr/>
            <p:nvPr/>
          </p:nvSpPr>
          <p:spPr>
            <a:xfrm>
              <a:off x="5901587" y="5583194"/>
              <a:ext cx="18880" cy="50318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6" id="76"/>
            <p:cNvSpPr txBox="true"/>
            <p:nvPr/>
          </p:nvSpPr>
          <p:spPr>
            <a:xfrm rot="0">
              <a:off x="5278947" y="614666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8548535" y="13456698"/>
            <a:ext cx="4914381" cy="4064326"/>
          </a:xfrm>
          <a:custGeom>
            <a:avLst/>
            <a:gdLst/>
            <a:ahLst/>
            <a:cxnLst/>
            <a:rect r="r" b="b" t="t" l="l"/>
            <a:pathLst>
              <a:path h="4064326" w="4914381">
                <a:moveTo>
                  <a:pt x="0" y="0"/>
                </a:moveTo>
                <a:lnTo>
                  <a:pt x="4914381" y="0"/>
                </a:lnTo>
                <a:lnTo>
                  <a:pt x="4914381" y="4064326"/>
                </a:lnTo>
                <a:lnTo>
                  <a:pt x="0" y="40643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312156" y="19117821"/>
            <a:ext cx="14012764" cy="925344"/>
            <a:chOff x="0" y="0"/>
            <a:chExt cx="18683685" cy="1233793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81" id="81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84" id="84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3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13135" y="-255419"/>
            <a:ext cx="20012386" cy="2845974"/>
            <a:chOff x="0" y="0"/>
            <a:chExt cx="26683182" cy="3794632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994127" y="3608356"/>
              <a:ext cx="25633594" cy="186276"/>
              <a:chOff x="0" y="0"/>
              <a:chExt cx="4901223" cy="3561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901223" cy="35616"/>
              </a:xfrm>
              <a:custGeom>
                <a:avLst/>
                <a:gdLst/>
                <a:ahLst/>
                <a:cxnLst/>
                <a:rect r="r" b="b" t="t" l="l"/>
                <a:pathLst>
                  <a:path h="35616" w="4901223">
                    <a:moveTo>
                      <a:pt x="0" y="0"/>
                    </a:moveTo>
                    <a:lnTo>
                      <a:pt x="4901223" y="0"/>
                    </a:lnTo>
                    <a:lnTo>
                      <a:pt x="4901223" y="35616"/>
                    </a:lnTo>
                    <a:lnTo>
                      <a:pt x="0" y="35616"/>
                    </a:lnTo>
                    <a:close/>
                  </a:path>
                </a:pathLst>
              </a:custGeom>
              <a:solidFill>
                <a:srgbClr val="F5A898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901223" cy="451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0" y="0"/>
              <a:ext cx="26683182" cy="3608356"/>
              <a:chOff x="0" y="0"/>
              <a:chExt cx="5101907" cy="689929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5101907" cy="689929"/>
              </a:xfrm>
              <a:custGeom>
                <a:avLst/>
                <a:gdLst/>
                <a:ahLst/>
                <a:cxnLst/>
                <a:rect r="r" b="b" t="t" l="l"/>
                <a:pathLst>
                  <a:path h="689929" w="5101907">
                    <a:moveTo>
                      <a:pt x="0" y="0"/>
                    </a:moveTo>
                    <a:lnTo>
                      <a:pt x="5101907" y="0"/>
                    </a:lnTo>
                    <a:lnTo>
                      <a:pt x="5101907" y="689929"/>
                    </a:lnTo>
                    <a:lnTo>
                      <a:pt x="0" y="689929"/>
                    </a:lnTo>
                    <a:close/>
                  </a:path>
                </a:pathLst>
              </a:custGeom>
              <a:solidFill>
                <a:srgbClr val="A3D9C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5101907" cy="69945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01"/>
                  </a:lnSpc>
                </a:pPr>
              </a:p>
            </p:txBody>
          </p:sp>
        </p:grpSp>
      </p:grpSp>
      <p:grpSp>
        <p:nvGrpSpPr>
          <p:cNvPr name="Group 9" id="9"/>
          <p:cNvGrpSpPr/>
          <p:nvPr/>
        </p:nvGrpSpPr>
        <p:grpSpPr>
          <a:xfrm rot="0">
            <a:off x="-243538" y="20541998"/>
            <a:ext cx="15772266" cy="1241367"/>
            <a:chOff x="0" y="0"/>
            <a:chExt cx="2829288" cy="2226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29288" cy="222681"/>
            </a:xfrm>
            <a:custGeom>
              <a:avLst/>
              <a:gdLst/>
              <a:ahLst/>
              <a:cxnLst/>
              <a:rect r="r" b="b" t="t" l="l"/>
              <a:pathLst>
                <a:path h="222681" w="2829288">
                  <a:moveTo>
                    <a:pt x="0" y="0"/>
                  </a:moveTo>
                  <a:lnTo>
                    <a:pt x="2829288" y="0"/>
                  </a:lnTo>
                  <a:lnTo>
                    <a:pt x="2829288" y="222681"/>
                  </a:lnTo>
                  <a:lnTo>
                    <a:pt x="0" y="222681"/>
                  </a:lnTo>
                  <a:close/>
                </a:path>
              </a:pathLst>
            </a:custGeom>
            <a:solidFill>
              <a:srgbClr val="A3D9C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829288" cy="222681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601171" y="454379"/>
            <a:ext cx="12082850" cy="1472542"/>
            <a:chOff x="0" y="0"/>
            <a:chExt cx="32416664" cy="39506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CAFFEINE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13385" y="11473941"/>
            <a:ext cx="6305152" cy="7005697"/>
            <a:chOff x="0" y="0"/>
            <a:chExt cx="1013576" cy="112619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3576" cy="1126191"/>
            </a:xfrm>
            <a:custGeom>
              <a:avLst/>
              <a:gdLst/>
              <a:ahLst/>
              <a:cxnLst/>
              <a:rect r="r" b="b" t="t" l="l"/>
              <a:pathLst>
                <a:path h="1126191" w="1013576">
                  <a:moveTo>
                    <a:pt x="35910" y="0"/>
                  </a:moveTo>
                  <a:lnTo>
                    <a:pt x="977666" y="0"/>
                  </a:lnTo>
                  <a:cubicBezTo>
                    <a:pt x="987190" y="0"/>
                    <a:pt x="996324" y="3783"/>
                    <a:pt x="1003058" y="10518"/>
                  </a:cubicBezTo>
                  <a:cubicBezTo>
                    <a:pt x="1009793" y="17252"/>
                    <a:pt x="1013576" y="26386"/>
                    <a:pt x="1013576" y="35910"/>
                  </a:cubicBezTo>
                  <a:lnTo>
                    <a:pt x="1013576" y="1090281"/>
                  </a:lnTo>
                  <a:cubicBezTo>
                    <a:pt x="1013576" y="1099805"/>
                    <a:pt x="1009793" y="1108939"/>
                    <a:pt x="1003058" y="1115673"/>
                  </a:cubicBezTo>
                  <a:cubicBezTo>
                    <a:pt x="996324" y="1122408"/>
                    <a:pt x="987190" y="1126191"/>
                    <a:pt x="977666" y="1126191"/>
                  </a:cubicBezTo>
                  <a:lnTo>
                    <a:pt x="35910" y="1126191"/>
                  </a:lnTo>
                  <a:cubicBezTo>
                    <a:pt x="16077" y="1126191"/>
                    <a:pt x="0" y="1110114"/>
                    <a:pt x="0" y="1090281"/>
                  </a:cubicBezTo>
                  <a:lnTo>
                    <a:pt x="0" y="35910"/>
                  </a:lnTo>
                  <a:cubicBezTo>
                    <a:pt x="0" y="26386"/>
                    <a:pt x="3783" y="17252"/>
                    <a:pt x="10518" y="10518"/>
                  </a:cubicBezTo>
                  <a:cubicBezTo>
                    <a:pt x="17252" y="3783"/>
                    <a:pt x="26386" y="0"/>
                    <a:pt x="35910" y="0"/>
                  </a:cubicBezTo>
                  <a:close/>
                </a:path>
              </a:pathLst>
            </a:custGeom>
            <a:solidFill>
              <a:srgbClr val="FADBD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13576" cy="1126191"/>
            </a:xfrm>
            <a:prstGeom prst="rect">
              <a:avLst/>
            </a:prstGeom>
          </p:spPr>
          <p:txBody>
            <a:bodyPr anchor="ctr" rtlCol="false" tIns="31280" lIns="31280" bIns="31280" rIns="312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93059" y="11473941"/>
            <a:ext cx="6506956" cy="7005697"/>
            <a:chOff x="0" y="0"/>
            <a:chExt cx="8675941" cy="9340929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25400" y="0"/>
              <a:ext cx="8650541" cy="9340929"/>
              <a:chOff x="0" y="0"/>
              <a:chExt cx="909238" cy="98180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E1E8EC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0" y="582369"/>
              <a:ext cx="8163190" cy="1457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04/ BOND-LINE STRUCTURE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30632" y="3686303"/>
            <a:ext cx="6487906" cy="7005697"/>
            <a:chOff x="0" y="0"/>
            <a:chExt cx="909238" cy="9818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09238" cy="981803"/>
            </a:xfrm>
            <a:custGeom>
              <a:avLst/>
              <a:gdLst/>
              <a:ahLst/>
              <a:cxnLst/>
              <a:rect r="r" b="b" t="t" l="l"/>
              <a:pathLst>
                <a:path h="981803" w="909238">
                  <a:moveTo>
                    <a:pt x="34898" y="0"/>
                  </a:moveTo>
                  <a:lnTo>
                    <a:pt x="874340" y="0"/>
                  </a:lnTo>
                  <a:cubicBezTo>
                    <a:pt x="883596" y="0"/>
                    <a:pt x="892472" y="3677"/>
                    <a:pt x="899017" y="10221"/>
                  </a:cubicBezTo>
                  <a:cubicBezTo>
                    <a:pt x="905561" y="16766"/>
                    <a:pt x="909238" y="25642"/>
                    <a:pt x="909238" y="34898"/>
                  </a:cubicBezTo>
                  <a:lnTo>
                    <a:pt x="909238" y="946905"/>
                  </a:lnTo>
                  <a:cubicBezTo>
                    <a:pt x="909238" y="966179"/>
                    <a:pt x="893614" y="981803"/>
                    <a:pt x="874340" y="981803"/>
                  </a:cubicBezTo>
                  <a:lnTo>
                    <a:pt x="34898" y="981803"/>
                  </a:lnTo>
                  <a:cubicBezTo>
                    <a:pt x="15624" y="981803"/>
                    <a:pt x="0" y="966179"/>
                    <a:pt x="0" y="946905"/>
                  </a:cubicBezTo>
                  <a:lnTo>
                    <a:pt x="0" y="34898"/>
                  </a:lnTo>
                  <a:cubicBezTo>
                    <a:pt x="0" y="15624"/>
                    <a:pt x="15624" y="0"/>
                    <a:pt x="34898" y="0"/>
                  </a:cubicBezTo>
                  <a:close/>
                </a:path>
              </a:pathLst>
            </a:custGeom>
            <a:solidFill>
              <a:srgbClr val="D5F5E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909238" cy="981803"/>
            </a:xfrm>
            <a:prstGeom prst="rect">
              <a:avLst/>
            </a:prstGeom>
          </p:spPr>
          <p:txBody>
            <a:bodyPr anchor="ctr" rtlCol="false" tIns="35880" lIns="35880" bIns="35880" rIns="35880"/>
            <a:lstStyle/>
            <a:p>
              <a:pPr algn="ctr">
                <a:lnSpc>
                  <a:spcPts val="3117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-5210793" y="39458"/>
            <a:ext cx="12082850" cy="1472542"/>
            <a:chOff x="0" y="0"/>
            <a:chExt cx="32416664" cy="39506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2416660" cy="3950629"/>
            </a:xfrm>
            <a:custGeom>
              <a:avLst/>
              <a:gdLst/>
              <a:ahLst/>
              <a:cxnLst/>
              <a:rect r="r" b="b" t="t" l="l"/>
              <a:pathLst>
                <a:path h="3950629" w="32416660">
                  <a:moveTo>
                    <a:pt x="0" y="0"/>
                  </a:moveTo>
                  <a:lnTo>
                    <a:pt x="32416660" y="0"/>
                  </a:lnTo>
                  <a:lnTo>
                    <a:pt x="32416660" y="3950629"/>
                  </a:lnTo>
                  <a:lnTo>
                    <a:pt x="0" y="39506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8337" r="31886" b="-3946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2416664" cy="395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24"/>
                </a:lnSpc>
              </a:pPr>
              <a:r>
                <a:rPr lang="en-US" b="true" sz="6020">
                  <a:solidFill>
                    <a:srgbClr val="1B4D5C"/>
                  </a:solidFill>
                  <a:latin typeface="Shantell Sans Ultra-Bold"/>
                  <a:ea typeface="Shantell Sans Ultra-Bold"/>
                  <a:cs typeface="Shantell Sans Ultra-Bold"/>
                  <a:sym typeface="Shantell Sans Ultra-Bold"/>
                </a:rPr>
                <a:t>10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756384" y="3686303"/>
            <a:ext cx="6487906" cy="7005697"/>
            <a:chOff x="0" y="0"/>
            <a:chExt cx="8650541" cy="934092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8650541" cy="9340929"/>
              <a:chOff x="0" y="0"/>
              <a:chExt cx="909238" cy="981803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909238" cy="981803"/>
              </a:xfrm>
              <a:custGeom>
                <a:avLst/>
                <a:gdLst/>
                <a:ahLst/>
                <a:cxnLst/>
                <a:rect r="r" b="b" t="t" l="l"/>
                <a:pathLst>
                  <a:path h="981803" w="909238">
                    <a:moveTo>
                      <a:pt x="34898" y="0"/>
                    </a:moveTo>
                    <a:lnTo>
                      <a:pt x="874340" y="0"/>
                    </a:lnTo>
                    <a:cubicBezTo>
                      <a:pt x="883596" y="0"/>
                      <a:pt x="892472" y="3677"/>
                      <a:pt x="899017" y="10221"/>
                    </a:cubicBezTo>
                    <a:cubicBezTo>
                      <a:pt x="905561" y="16766"/>
                      <a:pt x="909238" y="25642"/>
                      <a:pt x="909238" y="34898"/>
                    </a:cubicBezTo>
                    <a:lnTo>
                      <a:pt x="909238" y="946905"/>
                    </a:lnTo>
                    <a:cubicBezTo>
                      <a:pt x="909238" y="966179"/>
                      <a:pt x="893614" y="981803"/>
                      <a:pt x="874340" y="981803"/>
                    </a:cubicBezTo>
                    <a:lnTo>
                      <a:pt x="34898" y="981803"/>
                    </a:lnTo>
                    <a:cubicBezTo>
                      <a:pt x="15624" y="981803"/>
                      <a:pt x="0" y="966179"/>
                      <a:pt x="0" y="946905"/>
                    </a:cubicBezTo>
                    <a:lnTo>
                      <a:pt x="0" y="34898"/>
                    </a:lnTo>
                    <a:cubicBezTo>
                      <a:pt x="0" y="15624"/>
                      <a:pt x="15624" y="0"/>
                      <a:pt x="34898" y="0"/>
                    </a:cubicBezTo>
                    <a:close/>
                  </a:path>
                </a:pathLst>
              </a:custGeom>
              <a:solidFill>
                <a:srgbClr val="F3EAF8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0"/>
                <a:ext cx="909238" cy="981803"/>
              </a:xfrm>
              <a:prstGeom prst="rect">
                <a:avLst/>
              </a:prstGeom>
            </p:spPr>
            <p:txBody>
              <a:bodyPr anchor="ctr" rtlCol="false" tIns="35880" lIns="35880" bIns="35880" rIns="35880"/>
              <a:lstStyle/>
              <a:p>
                <a:pPr algn="ctr">
                  <a:lnSpc>
                    <a:spcPts val="3117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120293" y="390799"/>
              <a:ext cx="816319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316"/>
                </a:lnSpc>
                <a:spcBef>
                  <a:spcPct val="0"/>
                </a:spcBef>
              </a:pPr>
              <a:r>
                <a:rPr lang="en-US" b="true" sz="3597">
                  <a:solidFill>
                    <a:srgbClr val="1B4D5C"/>
                  </a:solidFill>
                  <a:latin typeface="Shantell Sans Bold"/>
                  <a:ea typeface="Shantell Sans Bold"/>
                  <a:cs typeface="Shantell Sans Bold"/>
                  <a:sym typeface="Shantell Sans Bold"/>
                </a:rPr>
                <a:t>02/ LEWIS STRUCTURE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473370" y="46704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295468" y="400371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328648" y="6245265"/>
              <a:ext cx="1837911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075674" y="1780140"/>
              <a:ext cx="1645537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CH₃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4376449" y="507051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N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2549360" y="501971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N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2455137" y="262282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567011" y="313088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N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2101497" y="3874338"/>
              <a:ext cx="13050" cy="50336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329610" y="2413346"/>
              <a:ext cx="160449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H₃C</a:t>
              </a:r>
            </a:p>
          </p:txBody>
        </p:sp>
        <p:sp>
          <p:nvSpPr>
            <p:cNvPr name="AutoShape 44" id="44"/>
            <p:cNvSpPr/>
            <p:nvPr/>
          </p:nvSpPr>
          <p:spPr>
            <a:xfrm>
              <a:off x="1349816" y="3152793"/>
              <a:ext cx="434389" cy="25466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1605279" y="44037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>
              <a:off x="2495671" y="5070493"/>
              <a:ext cx="434389" cy="254669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V="true">
              <a:off x="1356549" y="4864937"/>
              <a:ext cx="497459" cy="7800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2328648" y="3022874"/>
              <a:ext cx="454849" cy="21601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>
              <a:off x="3390125" y="2994685"/>
              <a:ext cx="458045" cy="20915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3390125" y="307343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flipV="true">
              <a:off x="3988452" y="3872804"/>
              <a:ext cx="0" cy="50353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2" id="52"/>
            <p:cNvSpPr txBox="true"/>
            <p:nvPr/>
          </p:nvSpPr>
          <p:spPr>
            <a:xfrm rot="0">
              <a:off x="3390125" y="4378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C</a:t>
              </a:r>
            </a:p>
          </p:txBody>
        </p:sp>
        <p:sp>
          <p:nvSpPr>
            <p:cNvPr name="AutoShape 53" id="53"/>
            <p:cNvSpPr/>
            <p:nvPr/>
          </p:nvSpPr>
          <p:spPr>
            <a:xfrm flipV="true">
              <a:off x="3294174" y="4908038"/>
              <a:ext cx="384649" cy="32495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3391615" y="5015988"/>
              <a:ext cx="384649" cy="32495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>
              <a:off x="3147680" y="5715865"/>
              <a:ext cx="11992" cy="50339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>
              <a:off x="4325270" y="5013563"/>
              <a:ext cx="444701" cy="23620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V="true">
              <a:off x="5396051" y="5124029"/>
              <a:ext cx="436248" cy="25147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V="true">
              <a:off x="4317564" y="3263184"/>
              <a:ext cx="481623" cy="146934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9" id="59"/>
            <p:cNvSpPr txBox="true"/>
            <p:nvPr/>
          </p:nvSpPr>
          <p:spPr>
            <a:xfrm rot="0">
              <a:off x="4468320" y="2803788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N</a:t>
              </a:r>
            </a:p>
          </p:txBody>
        </p:sp>
        <p:sp>
          <p:nvSpPr>
            <p:cNvPr name="AutoShape 60" id="60"/>
            <p:cNvSpPr/>
            <p:nvPr/>
          </p:nvSpPr>
          <p:spPr>
            <a:xfrm flipH="true" flipV="true">
              <a:off x="3112780" y="2162101"/>
              <a:ext cx="9505" cy="50344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 flipH="true" flipV="true">
              <a:off x="3023312" y="2161622"/>
              <a:ext cx="9505" cy="50344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2" id="62"/>
            <p:cNvSpPr txBox="true"/>
            <p:nvPr/>
          </p:nvSpPr>
          <p:spPr>
            <a:xfrm rot="0">
              <a:off x="2495671" y="146712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O</a:t>
              </a:r>
            </a:p>
          </p:txBody>
        </p:sp>
        <p:sp>
          <p:nvSpPr>
            <p:cNvPr name="AutoShape 63" id="63"/>
            <p:cNvSpPr/>
            <p:nvPr/>
          </p:nvSpPr>
          <p:spPr>
            <a:xfrm flipV="true">
              <a:off x="5246111" y="2580240"/>
              <a:ext cx="441807" cy="24157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4" id="64"/>
            <p:cNvSpPr/>
            <p:nvPr/>
          </p:nvSpPr>
          <p:spPr>
            <a:xfrm>
              <a:off x="5530575" y="3619762"/>
              <a:ext cx="314685" cy="393095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5" id="65"/>
            <p:cNvSpPr/>
            <p:nvPr/>
          </p:nvSpPr>
          <p:spPr>
            <a:xfrm flipV="true">
              <a:off x="4077352" y="3872804"/>
              <a:ext cx="0" cy="50353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 flipV="true">
              <a:off x="1460731" y="5014886"/>
              <a:ext cx="497459" cy="78003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7" id="67"/>
            <p:cNvSpPr txBox="true"/>
            <p:nvPr/>
          </p:nvSpPr>
          <p:spPr>
            <a:xfrm rot="-5400000">
              <a:off x="1432401" y="2730831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-4690855">
              <a:off x="394919" y="5062752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2514307">
              <a:off x="300489" y="4378365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-5400000">
              <a:off x="2417147" y="4670443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-4049719">
              <a:off x="2613371" y="1103747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3348441">
              <a:off x="2133092" y="1202729"/>
              <a:ext cx="1062986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73" id="73"/>
            <p:cNvSpPr txBox="true"/>
            <p:nvPr/>
          </p:nvSpPr>
          <p:spPr>
            <a:xfrm rot="-6350522">
              <a:off x="4030249" y="2543464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-5400000">
              <a:off x="4309806" y="5498040"/>
              <a:ext cx="1145855" cy="800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97"/>
                </a:lnSpc>
              </a:pPr>
              <a:r>
                <a:rPr lang="en-US" sz="3998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:</a:t>
              </a:r>
            </a:p>
          </p:txBody>
        </p:sp>
        <p:sp>
          <p:nvSpPr>
            <p:cNvPr name="AutoShape 75" id="75"/>
            <p:cNvSpPr/>
            <p:nvPr/>
          </p:nvSpPr>
          <p:spPr>
            <a:xfrm flipV="true">
              <a:off x="5295468" y="4964945"/>
              <a:ext cx="436248" cy="251472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6" id="76"/>
          <p:cNvSpPr/>
          <p:nvPr/>
        </p:nvSpPr>
        <p:spPr>
          <a:xfrm flipH="false" flipV="false" rot="0">
            <a:off x="8558651" y="13257617"/>
            <a:ext cx="4883373" cy="4718765"/>
          </a:xfrm>
          <a:custGeom>
            <a:avLst/>
            <a:gdLst/>
            <a:ahLst/>
            <a:cxnLst/>
            <a:rect r="r" b="b" t="t" l="l"/>
            <a:pathLst>
              <a:path h="4718765" w="4883373">
                <a:moveTo>
                  <a:pt x="0" y="0"/>
                </a:moveTo>
                <a:lnTo>
                  <a:pt x="4883373" y="0"/>
                </a:lnTo>
                <a:lnTo>
                  <a:pt x="4883373" y="4718765"/>
                </a:lnTo>
                <a:lnTo>
                  <a:pt x="0" y="4718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190991" y="11767412"/>
            <a:ext cx="5949935" cy="946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63"/>
              </a:lnSpc>
              <a:spcBef>
                <a:spcPct val="0"/>
              </a:spcBef>
            </a:pPr>
            <a:r>
              <a:rPr lang="en-US" b="true" sz="3135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03/ CONDENSED STRUCTURAL FORMULA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68603" y="14026048"/>
            <a:ext cx="5594718" cy="1732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69"/>
              </a:lnSpc>
            </a:pPr>
            <a:r>
              <a:rPr lang="en-US" sz="3807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CH₃–N¹–CH=N–C²=C¹–C(=O)–N(CH₃)–C(=O)–N²–CH₃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13385" y="3932061"/>
            <a:ext cx="6122392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6"/>
              </a:lnSpc>
            </a:pPr>
            <a:r>
              <a:rPr lang="en-US" sz="3597" b="true">
                <a:solidFill>
                  <a:srgbClr val="1B4D5C"/>
                </a:solidFill>
                <a:latin typeface="Shantell Sans Bold"/>
                <a:ea typeface="Shantell Sans Bold"/>
                <a:cs typeface="Shantell Sans Bold"/>
                <a:sym typeface="Shantell Sans Bold"/>
              </a:rPr>
              <a:t>01/MOLECULAR FORMULA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115178" y="6427410"/>
            <a:ext cx="5756879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7"/>
              </a:lnSpc>
            </a:pPr>
            <a:r>
              <a:rPr lang="en-US" sz="7998" b="true">
                <a:solidFill>
                  <a:srgbClr val="2C3E50"/>
                </a:solidFill>
                <a:latin typeface="Shantell Sans Medium"/>
                <a:ea typeface="Shantell Sans Medium"/>
                <a:cs typeface="Shantell Sans Medium"/>
                <a:sym typeface="Shantell Sans Medium"/>
              </a:rPr>
              <a:t>C₈H₁₀N₄O₂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539324" y="19261100"/>
            <a:ext cx="14012764" cy="925344"/>
            <a:chOff x="0" y="0"/>
            <a:chExt cx="18683685" cy="1233793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90" y="0"/>
                  </a:lnTo>
                  <a:lnTo>
                    <a:pt x="868890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 rot="0">
              <a:off x="868890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atom count verified </a:t>
              </a:r>
            </a:p>
          </p:txBody>
        </p:sp>
        <p:sp>
          <p:nvSpPr>
            <p:cNvPr name="Freeform 84" id="84"/>
            <p:cNvSpPr/>
            <p:nvPr/>
          </p:nvSpPr>
          <p:spPr>
            <a:xfrm flipH="false" flipV="false" rot="0">
              <a:off x="6518407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12167924" y="182452"/>
              <a:ext cx="868890" cy="868890"/>
            </a:xfrm>
            <a:custGeom>
              <a:avLst/>
              <a:gdLst/>
              <a:ahLst/>
              <a:cxnLst/>
              <a:rect r="r" b="b" t="t" l="l"/>
              <a:pathLst>
                <a:path h="868890" w="868890">
                  <a:moveTo>
                    <a:pt x="0" y="0"/>
                  </a:moveTo>
                  <a:lnTo>
                    <a:pt x="868889" y="0"/>
                  </a:lnTo>
                  <a:lnTo>
                    <a:pt x="868889" y="868889"/>
                  </a:lnTo>
                  <a:lnTo>
                    <a:pt x="0" y="8688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 rot="0">
              <a:off x="6952851" y="298923"/>
              <a:ext cx="5649517" cy="6264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valence checked</a:t>
              </a:r>
            </a:p>
          </p:txBody>
        </p:sp>
        <p:sp>
          <p:nvSpPr>
            <p:cNvPr name="TextBox 87" id="87"/>
            <p:cNvSpPr txBox="true"/>
            <p:nvPr/>
          </p:nvSpPr>
          <p:spPr>
            <a:xfrm rot="0">
              <a:off x="13034168" y="-9525"/>
              <a:ext cx="5649517" cy="12433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07"/>
                </a:lnSpc>
              </a:pPr>
              <a:r>
                <a:rPr lang="en-US" sz="3089" b="true">
                  <a:solidFill>
                    <a:srgbClr val="2C3E50"/>
                  </a:solidFill>
                  <a:latin typeface="Shantell Sans Medium"/>
                  <a:ea typeface="Shantell Sans Medium"/>
                  <a:cs typeface="Shantell Sans Medium"/>
                  <a:sym typeface="Shantell Sans Medium"/>
                </a:rPr>
                <a:t>same connectivity confirmed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DAHYM_rjI4E</dc:identifier>
  <dcterms:modified xsi:type="dcterms:W3CDTF">2011-08-01T06:04:30Z</dcterms:modified>
  <cp:revision>1</cp:revision>
  <dc:title>002_molecule_representation_source_ruga.pptx</dc:title>
</cp:coreProperties>
</file>